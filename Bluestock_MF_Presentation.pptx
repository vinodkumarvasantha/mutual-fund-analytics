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vinod vasantha" initials="vv" lastIdx="1" clrIdx="0">
    <p:extLst>
      <p:ext uri="{19B8F6BF-5375-455C-9EA6-DF929625EA0E}">
        <p15:presenceInfo xmlns:p15="http://schemas.microsoft.com/office/powerpoint/2012/main" userId="bed59d490a0a88d8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0297C9-2198-35A9-381F-00079DCCD3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AC7459-CE34-B2B5-E504-A9C039380F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B77CCA-5B34-0406-8E25-956ABD42AA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B19684-2F32-4F7E-A73E-1772216A80C6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D08E33-93F8-59FB-71FF-676B290761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B1D121-7801-3FE6-436B-01DF8B42E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286074-7C9C-4F81-B17D-C9D4EB2923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02888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C0186C-C283-24E9-5472-2203B1B2F9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EB1F7D-8047-7722-662E-C345175ABB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B2EFC3-7BA2-CBEB-5DE2-6F4B424BB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B19684-2F32-4F7E-A73E-1772216A80C6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175980-2A58-F793-1FC6-E333FBC588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1874FA-C2EF-6E7E-DC9B-33103A3881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286074-7C9C-4F81-B17D-C9D4EB2923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7116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67A1F0-FA28-E270-4133-040FCACAB0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F72B75-BA0C-1F9A-AA04-6848E07744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8F6DCB-F32A-DF54-6222-586BE615EE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B19684-2F32-4F7E-A73E-1772216A80C6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BCDCB5-6594-0D3B-E686-2CE547B82B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7AB66F-A080-51C8-22B0-FF3543085C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286074-7C9C-4F81-B17D-C9D4EB2923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6536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ADCC3-5454-C71B-DBBE-316F1CA1E1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322333-C64A-92D1-F592-0400008530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90A0B3-570D-FD2F-9396-D1540B1DDE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EBBBBE-0E0E-5AA8-805E-4A7C7C6CA4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B19684-2F32-4F7E-A73E-1772216A80C6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EE6B73-E2E7-6B34-7B4C-FA4D219954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ADB9E9-4F17-AD6C-9295-B5FFCA3219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286074-7C9C-4F81-B17D-C9D4EB2923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21305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BC1307-013D-0024-33E5-53BD8163D6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5A2F9A-D3E5-5F55-BED5-9126C0ADCE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A7E729-BCBF-1A5A-96D4-272A7EA10D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D5BF8F2-C395-E774-7578-303D0E26EF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B7E9F87-F881-C526-A7AD-220C4C69B1B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27F9CC6-63B5-4B5A-60AA-DD618A4C4C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B19684-2F32-4F7E-A73E-1772216A80C6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39B6C7A-3F4F-B17E-8A54-B16335D540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057B0E4-08D3-6CD2-BFF8-051C4991A6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286074-7C9C-4F81-B17D-C9D4EB2923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76592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7C4D3C-6C81-E801-CF62-6C2445558A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B4771E7-95CE-63B8-0482-C940B1976D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B19684-2F32-4F7E-A73E-1772216A80C6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1FCA75-D6B6-02E2-494C-1D46B71F0A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FE08B-29A5-2CEE-770A-206540B76C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286074-7C9C-4F81-B17D-C9D4EB2923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3967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2DB5CDF-2556-4FE5-98CD-75357924DA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B19684-2F32-4F7E-A73E-1772216A80C6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BAE87CE-15E1-4273-760B-CE9939291E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86EF44-8EA5-7F53-D26B-A02C71A0F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286074-7C9C-4F81-B17D-C9D4EB2923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09697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3B61B9-FCA0-CC56-B4E1-EC8E5BB08C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2D5CA3-4BF4-A6E6-C543-5E6DC35D4B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B09AC2-C7B3-09C0-9962-2791DD7FF4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51DFCC-AADD-91F3-8BCB-93CB332F7C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B19684-2F32-4F7E-A73E-1772216A80C6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D7B706-DD92-8AC3-2CD5-2630CE2CF1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86E6A7-C5EE-9BE5-4621-9FAF770C02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286074-7C9C-4F81-B17D-C9D4EB2923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24279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88826E-A21D-3F24-9DFB-60195F55B5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CE2F970-203B-3999-2ABB-400EA71B96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0CA399-56E9-8B29-75DB-B4157ADDA9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40C3E7-2305-CD3A-C5CB-879A1BE0DF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B19684-2F32-4F7E-A73E-1772216A80C6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ACBBA7-38AD-D037-1262-14FC4CD07E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9DF696-8518-0DAF-E8AA-CD79E7790F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286074-7C9C-4F81-B17D-C9D4EB2923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67839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2877FB-F313-9C34-FEA0-7660A0FB41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EE3E4D-CB09-E225-32A7-ED153A71F7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FC8C11-AE1F-1784-3F4C-B99176B91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B19684-2F32-4F7E-A73E-1772216A80C6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12A0C3-ED1C-5641-0063-9F8355E05C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910E92-CFE9-B1A0-1A06-2D48DCEE8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286074-7C9C-4F81-B17D-C9D4EB2923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59237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0AC5407-3704-FAC1-DD2C-F6E3250BCDB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6AF286-4527-A69D-D2BE-1D40BB26C4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E89DBB-C4E9-B746-1B3F-B79F3EA469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B19684-2F32-4F7E-A73E-1772216A80C6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9BA9B5-C6C7-5C7F-685A-E212BD16C1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3FB492-92A4-EAB3-0058-68EFF9DC2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286074-7C9C-4F81-B17D-C9D4EB2923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63467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0DC1EEB-B766-B25A-180E-28B4CE462D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952CA9-73E6-3BCF-129F-D9F8F4994B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55B508-C724-AD2E-BE02-A615CD1792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B19684-2F32-4F7E-A73E-1772216A80C6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156EF1-F0E8-4755-135F-CA3C6D39B7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79760F-9FF2-67A7-38D9-B3E124815C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286074-7C9C-4F81-B17D-C9D4EB2923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81963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861D71-DC29-3093-A50E-1364A315213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 </a:t>
            </a:r>
            <a:r>
              <a:rPr lang="en-US" dirty="0" err="1"/>
              <a:t>Bluestock</a:t>
            </a:r>
            <a:r>
              <a:rPr lang="en-US" dirty="0"/>
              <a:t> Mutual Fund Analytics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00E1CAF-E774-2E2A-5818-38B30DB3BFD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Capstone Project | Performance Analysis &amp; Dashboard</a:t>
            </a:r>
          </a:p>
          <a:p>
            <a:r>
              <a:rPr lang="en-US" dirty="0"/>
              <a:t>   Vinod Kumar Vasantha | August 2026</a:t>
            </a:r>
          </a:p>
        </p:txBody>
      </p:sp>
    </p:spTree>
    <p:extLst>
      <p:ext uri="{BB962C8B-B14F-4D97-AF65-F5344CB8AC3E}">
        <p14:creationId xmlns:p14="http://schemas.microsoft.com/office/powerpoint/2010/main" val="9391022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DC0352-8260-8185-E843-9A2632F21A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&amp; 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3A1C0F-A24F-5BB9-7B42-FC6408D727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Problem: Fragmented mutual fund data across NAV, transactions, and industry sources makes performance comparison and investor analysis difficult</a:t>
            </a:r>
          </a:p>
          <a:p>
            <a:r>
              <a:rPr lang="en-US" dirty="0"/>
              <a:t>Objective 1: Build a clean ETL pipeline consolidating 10 data sources into an analyzable structure</a:t>
            </a:r>
          </a:p>
          <a:p>
            <a:r>
              <a:rPr lang="en-US" dirty="0"/>
              <a:t>Objective 2: Compute risk-adjusted performance metrics (Sharpe, Sortino, Alpha, Beta) across 40 schemes</a:t>
            </a:r>
          </a:p>
          <a:p>
            <a:r>
              <a:rPr lang="en-US" dirty="0"/>
              <a:t>Objective 3: Deliver an interactive dashboard for fund comparison and investor behavior analysis</a:t>
            </a:r>
          </a:p>
        </p:txBody>
      </p:sp>
    </p:spTree>
    <p:extLst>
      <p:ext uri="{BB962C8B-B14F-4D97-AF65-F5344CB8AC3E}">
        <p14:creationId xmlns:p14="http://schemas.microsoft.com/office/powerpoint/2010/main" val="42083381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88EDC7-2575-CBA1-D678-C2608C2B0B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98E008-098F-B303-6947-06392DD209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10 structured datasets covering the full mutual fund ecosystem</a:t>
            </a:r>
          </a:p>
          <a:p>
            <a:r>
              <a:rPr lang="en-US" dirty="0"/>
              <a:t>Fund Master — scheme metadata for 40 funds (Equity &amp; Debt)</a:t>
            </a:r>
          </a:p>
          <a:p>
            <a:r>
              <a:rPr lang="en-US" dirty="0"/>
              <a:t>NAV History — daily NAVs, Jan 2022 to May 2026 (~46,000 records)</a:t>
            </a:r>
          </a:p>
          <a:p>
            <a:r>
              <a:rPr lang="en-US" dirty="0"/>
              <a:t>Industry data — AUM, SIP inflows, category inflows, folio counts</a:t>
            </a:r>
          </a:p>
          <a:p>
            <a:r>
              <a:rPr lang="en-US" dirty="0"/>
              <a:t>Investor Transactions — 32,778 records across 12 states, 5 age groups</a:t>
            </a:r>
          </a:p>
          <a:p>
            <a:r>
              <a:rPr lang="en-US" dirty="0"/>
              <a:t>Benchmark Indices — Nifty 50, Nifty 100, and 5 other market indices</a:t>
            </a:r>
          </a:p>
        </p:txBody>
      </p:sp>
    </p:spTree>
    <p:extLst>
      <p:ext uri="{BB962C8B-B14F-4D97-AF65-F5344CB8AC3E}">
        <p14:creationId xmlns:p14="http://schemas.microsoft.com/office/powerpoint/2010/main" val="446960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8FF985-CFE0-D945-6CED-3281B27809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926222-1954-5EF6-307F-A95C226464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Extract: Raw CSVs + live NAV feed via mfapi.in API</a:t>
            </a:r>
          </a:p>
          <a:p>
            <a:r>
              <a:rPr lang="en-US" dirty="0"/>
              <a:t>Transform: Data cleaning, anomaly flagging, date-type standardization</a:t>
            </a:r>
          </a:p>
          <a:p>
            <a:r>
              <a:rPr lang="en-US" dirty="0"/>
              <a:t>Load: SQLite star-schema (fact/dimension tables) + Power BI data model</a:t>
            </a:r>
          </a:p>
          <a:p>
            <a:r>
              <a:rPr lang="en-US" dirty="0"/>
              <a:t>Analysis: Python (pandas, </a:t>
            </a:r>
            <a:r>
              <a:rPr lang="en-US" dirty="0" err="1"/>
              <a:t>scipy</a:t>
            </a:r>
            <a:r>
              <a:rPr lang="en-US" dirty="0"/>
              <a:t>) for statistical computations</a:t>
            </a:r>
          </a:p>
          <a:p>
            <a:r>
              <a:rPr lang="en-US" dirty="0"/>
              <a:t>Visualization: Power BI — 4-page interactive dashboard with drill-through</a:t>
            </a:r>
          </a:p>
        </p:txBody>
      </p:sp>
    </p:spTree>
    <p:extLst>
      <p:ext uri="{BB962C8B-B14F-4D97-AF65-F5344CB8AC3E}">
        <p14:creationId xmlns:p14="http://schemas.microsoft.com/office/powerpoint/2010/main" val="35149546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3DDFA4-0729-5388-39DF-FEB7873F1B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EDA Highlights — Fund Universe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414707-B1B7-8C06-2C36-1690663F81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40 schemes: 34 Equity (85%) + 6 Debt (15%)</a:t>
            </a:r>
          </a:p>
          <a:p>
            <a:r>
              <a:rPr lang="en-US" dirty="0"/>
              <a:t>Equity breakdown: 14 Large Cap, 7 Mid Cap, 6 Small Cap, plus Flexi Cap, ELSS, Value</a:t>
            </a:r>
          </a:p>
          <a:p>
            <a:r>
              <a:rPr lang="en-US" dirty="0"/>
              <a:t>Expense ratios range from 0.55% to 1.64%</a:t>
            </a:r>
          </a:p>
          <a:p>
            <a:r>
              <a:rPr lang="en-US" dirty="0"/>
              <a:t>No single-day return anomalies exceeding 20% — clean dataset</a:t>
            </a:r>
          </a:p>
        </p:txBody>
      </p:sp>
    </p:spTree>
    <p:extLst>
      <p:ext uri="{BB962C8B-B14F-4D97-AF65-F5344CB8AC3E}">
        <p14:creationId xmlns:p14="http://schemas.microsoft.com/office/powerpoint/2010/main" val="7665883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286F85-8B49-A864-C3E7-3CE5170900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EDA Highlights — Industry &amp; Investors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4A08A2-026C-C95C-9DD9-3B5A86D086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Total industry AUM: ₹62.74 lakh crore</a:t>
            </a:r>
          </a:p>
          <a:p>
            <a:r>
              <a:rPr lang="en-US" dirty="0"/>
              <a:t>Monthly SIP inflows: ₹31,002 crore (17.17% YoY growth)</a:t>
            </a:r>
          </a:p>
          <a:p>
            <a:r>
              <a:rPr lang="en-US" dirty="0"/>
              <a:t>Total investor folios: 26.12 crore</a:t>
            </a:r>
          </a:p>
          <a:p>
            <a:r>
              <a:rPr lang="en-US" dirty="0"/>
              <a:t>32,778 transactions analyzed across 12 states and 5 age groups</a:t>
            </a:r>
          </a:p>
        </p:txBody>
      </p:sp>
    </p:spTree>
    <p:extLst>
      <p:ext uri="{BB962C8B-B14F-4D97-AF65-F5344CB8AC3E}">
        <p14:creationId xmlns:p14="http://schemas.microsoft.com/office/powerpoint/2010/main" val="17521581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20A542-95DD-49B3-AEAB-1E6B7334D7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Performance Metrics — Top Performers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715639-E81A-60CB-9720-3975339EE2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Top Fund Scorecard: UTI Mid Cap Fund (88.19), HDFC Top 100 Fund (88.13), Axis Small Cap Fund (85.25)</a:t>
            </a:r>
          </a:p>
          <a:p>
            <a:r>
              <a:rPr lang="en-US" dirty="0"/>
              <a:t>Best Sharpe Ratio: Mirae Asset Large Cap Fund (1.45)</a:t>
            </a:r>
          </a:p>
          <a:p>
            <a:r>
              <a:rPr lang="en-US" dirty="0"/>
              <a:t>Highest Alpha vs Nifty 100: SBI Small Cap Fund (+30.3% annualized)</a:t>
            </a:r>
          </a:p>
          <a:p>
            <a:r>
              <a:rPr lang="en-US" dirty="0"/>
              <a:t>Scorecard weights: 30% return, 25% Sharpe, 20% Alpha, 15% expense ratio, 10% max drawdown</a:t>
            </a:r>
          </a:p>
        </p:txBody>
      </p:sp>
    </p:spTree>
    <p:extLst>
      <p:ext uri="{BB962C8B-B14F-4D97-AF65-F5344CB8AC3E}">
        <p14:creationId xmlns:p14="http://schemas.microsoft.com/office/powerpoint/2010/main" val="36721457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A64685-0F74-222D-A8EF-423EB4183F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Performance Metrics — Risk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161525-5E59-59FF-528D-0FEEB2D572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Worst Max Drawdown: SBI Small Cap Fund (Direct), -52.6% (Jan 2023–Oct 2025)</a:t>
            </a:r>
          </a:p>
          <a:p>
            <a:r>
              <a:rPr lang="en-US" dirty="0"/>
              <a:t>Small Cap category disproportionately represented in worst drawdowns</a:t>
            </a:r>
          </a:p>
          <a:p>
            <a:r>
              <a:rPr lang="en-US" dirty="0"/>
              <a:t>Tracking error vs Nifty 100 ranged 18.6%–29.3% across top 5 funds</a:t>
            </a:r>
          </a:p>
          <a:p>
            <a:r>
              <a:rPr lang="en-US" dirty="0"/>
              <a:t>Benchmark correlation (R²) unusually low across most funds — flagged for data validation</a:t>
            </a:r>
          </a:p>
        </p:txBody>
      </p:sp>
    </p:spTree>
    <p:extLst>
      <p:ext uri="{BB962C8B-B14F-4D97-AF65-F5344CB8AC3E}">
        <p14:creationId xmlns:p14="http://schemas.microsoft.com/office/powerpoint/2010/main" val="8046918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A5E434-2C55-5FBA-BBF9-77553B9A4D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Dashboard — Industry Overview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CF87C6F-2AF5-6121-5F68-E6C69A050E2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2039" y="1778972"/>
            <a:ext cx="9347922" cy="4351338"/>
          </a:xfrm>
        </p:spPr>
      </p:pic>
    </p:spTree>
    <p:extLst>
      <p:ext uri="{BB962C8B-B14F-4D97-AF65-F5344CB8AC3E}">
        <p14:creationId xmlns:p14="http://schemas.microsoft.com/office/powerpoint/2010/main" val="14922075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1502E1-5D8B-6031-8C39-CAF968C20C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Dashboard — Fund Performance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FB7ECC6-1BD8-45DB-5309-192D0AA4333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4824" y="1825625"/>
            <a:ext cx="8994711" cy="4351338"/>
          </a:xfrm>
        </p:spPr>
      </p:pic>
    </p:spTree>
    <p:extLst>
      <p:ext uri="{BB962C8B-B14F-4D97-AF65-F5344CB8AC3E}">
        <p14:creationId xmlns:p14="http://schemas.microsoft.com/office/powerpoint/2010/main" val="11590432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4B81A-3D59-D2AD-6C02-D8375A6544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Dashboard — Investor Analytics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31A0124-054C-0792-7D7C-106C62FA37E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8213" y="1825625"/>
            <a:ext cx="9283958" cy="4667250"/>
          </a:xfrm>
        </p:spPr>
      </p:pic>
    </p:spTree>
    <p:extLst>
      <p:ext uri="{BB962C8B-B14F-4D97-AF65-F5344CB8AC3E}">
        <p14:creationId xmlns:p14="http://schemas.microsoft.com/office/powerpoint/2010/main" val="24435114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9FFB08-EEF5-8B2E-5EAF-2A4C898590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Dashboard — SIP Trends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301F1FA-D99C-EB10-196E-55DF85B935F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6245" y="1825625"/>
            <a:ext cx="9507893" cy="4351338"/>
          </a:xfrm>
        </p:spPr>
      </p:pic>
    </p:spTree>
    <p:extLst>
      <p:ext uri="{BB962C8B-B14F-4D97-AF65-F5344CB8AC3E}">
        <p14:creationId xmlns:p14="http://schemas.microsoft.com/office/powerpoint/2010/main" val="6243114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69FE21-8407-CC93-0BC1-22738842F2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Findings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D31663-A829-6E20-C6CE-1A28CE725B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Top-ranked funds balance strong risk-adjusted returns with cost efficiency, not just raw returns</a:t>
            </a:r>
          </a:p>
          <a:p>
            <a:r>
              <a:rPr lang="en-US" dirty="0"/>
              <a:t>Small Cap category shows highest return potential alongside highest drawdown risk</a:t>
            </a:r>
          </a:p>
          <a:p>
            <a:r>
              <a:rPr lang="en-US" dirty="0"/>
              <a:t>Industry-wide SIP growth (17.17% YoY) signals sustained retail participation</a:t>
            </a:r>
          </a:p>
          <a:p>
            <a:r>
              <a:rPr lang="en-US" dirty="0"/>
              <a:t>Low benchmark correlation across funds is a key data-quality flag for future validation</a:t>
            </a:r>
          </a:p>
          <a:p>
            <a:r>
              <a:rPr lang="en-US" dirty="0"/>
              <a:t>4-page Power BI dashboard enables self-serve exploration for non-technical stakeholders</a:t>
            </a:r>
          </a:p>
        </p:txBody>
      </p:sp>
    </p:spTree>
    <p:extLst>
      <p:ext uri="{BB962C8B-B14F-4D97-AF65-F5344CB8AC3E}">
        <p14:creationId xmlns:p14="http://schemas.microsoft.com/office/powerpoint/2010/main" val="15768814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E83EF7-0D21-13C1-B4F6-8644DA6D57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0248" y="2501835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Thank You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70DED91-3792-1899-7826-BD3670ECAA9B}"/>
              </a:ext>
            </a:extLst>
          </p:cNvPr>
          <p:cNvSpPr txBox="1"/>
          <p:nvPr/>
        </p:nvSpPr>
        <p:spPr>
          <a:xfrm>
            <a:off x="295275" y="5753100"/>
            <a:ext cx="515198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Questions &amp; Discussion</a:t>
            </a:r>
          </a:p>
          <a:p>
            <a:r>
              <a:rPr lang="en-US" dirty="0"/>
              <a:t>Vinod Kumar Vasantha</a:t>
            </a:r>
          </a:p>
          <a:p>
            <a:r>
              <a:rPr lang="en-US" dirty="0"/>
              <a:t>GitHub: </a:t>
            </a:r>
            <a:r>
              <a:rPr lang="en-US" dirty="0" err="1"/>
              <a:t>vinodkumarvasantha</a:t>
            </a:r>
            <a:r>
              <a:rPr lang="en-US" dirty="0"/>
              <a:t>/Mutual-Fund-Analytics</a:t>
            </a:r>
          </a:p>
        </p:txBody>
      </p:sp>
    </p:spTree>
    <p:extLst>
      <p:ext uri="{BB962C8B-B14F-4D97-AF65-F5344CB8AC3E}">
        <p14:creationId xmlns:p14="http://schemas.microsoft.com/office/powerpoint/2010/main" val="30731536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569</Words>
  <Application>Microsoft Office PowerPoint</Application>
  <PresentationFormat>Widescreen</PresentationFormat>
  <Paragraphs>55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Office Theme</vt:lpstr>
      <vt:lpstr> Bluestock Mutual Fund Analytics</vt:lpstr>
      <vt:lpstr>Problem &amp; Objective</vt:lpstr>
      <vt:lpstr>Data Sources</vt:lpstr>
      <vt:lpstr>Architecture</vt:lpstr>
      <vt:lpstr>EDA Highlights — Fund Universe</vt:lpstr>
      <vt:lpstr>EDA Highlights — Industry &amp; Investors</vt:lpstr>
      <vt:lpstr>Performance Metrics — Top Performers</vt:lpstr>
      <vt:lpstr>Performance Metrics — Risk Analysis</vt:lpstr>
      <vt:lpstr>Dashboard — Industry Overview</vt:lpstr>
      <vt:lpstr>Dashboard — Fund Performance</vt:lpstr>
      <vt:lpstr>Dashboard — Investor Analytics</vt:lpstr>
      <vt:lpstr>Dashboard — SIP Trends</vt:lpstr>
      <vt:lpstr>Key Findings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vinod vasantha</dc:creator>
  <cp:lastModifiedBy>vinod vasantha</cp:lastModifiedBy>
  <cp:revision>2</cp:revision>
  <dcterms:created xsi:type="dcterms:W3CDTF">2026-09-04T12:14:03Z</dcterms:created>
  <dcterms:modified xsi:type="dcterms:W3CDTF">2026-09-06T09:02:03Z</dcterms:modified>
</cp:coreProperties>
</file>